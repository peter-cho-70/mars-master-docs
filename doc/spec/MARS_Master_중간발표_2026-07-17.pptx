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196596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1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C3D0A"/>
                </a:solidFill>
                <a:latin typeface="Menlo"/>
              </a:rPr>
              <a:t>중간발표 · INTERIM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5201D"/>
                </a:solidFill>
                <a:latin typeface="Apple SD Gothic Neo"/>
              </a:rPr>
              <a:t>MARS/Master 뉴스 자동송출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63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56635F"/>
                </a:solidFill>
                <a:latin typeface="Apple SD Gothic Neo"/>
              </a:rPr>
              <a:t>개발 현황 및 상업화 로드맵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977639"/>
            <a:ext cx="2011680" cy="25400"/>
          </a:xfrm>
          <a:prstGeom prst="rect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251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B968F"/>
                </a:solidFill>
                <a:latin typeface="Menlo"/>
              </a:rPr>
              <a:t>발표일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5262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Menlo"/>
              </a:rPr>
              <a:t>2026-07-17 (금)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4251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B968F"/>
                </a:solidFill>
                <a:latin typeface="Menlo"/>
              </a:rPr>
              <a:t>보고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45262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Menlo"/>
              </a:rPr>
              <a:t>중간 발표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4251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B968F"/>
                </a:solidFill>
                <a:latin typeface="Menlo"/>
              </a:rPr>
              <a:t>기준일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45262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Menlo"/>
              </a:rPr>
              <a:t>2026-07-11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4251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B968F"/>
                </a:solidFill>
                <a:latin typeface="Menlo"/>
              </a:rPr>
              <a:t>현재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45262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Menlo"/>
              </a:rPr>
              <a:t>Phase 1 (MVP)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01 ·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9105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06A12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5727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Apple SD Gothic Neo"/>
              </a:rPr>
              <a:t>핵심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93852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635F"/>
                </a:solidFill>
                <a:latin typeface="Apple SD Gothic Neo"/>
              </a:rPr>
              <a:t>지금까지의 개발 상태를 세 줄로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59105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06A12"/>
                </a:solidFill>
                <a:latin typeface="Menl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15727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Apple SD Gothic Neo"/>
              </a:rPr>
              <a:t>완료 — 실장비 검증까지 끝난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93852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635F"/>
                </a:solidFill>
                <a:latin typeface="Apple SD Gothic Neo"/>
              </a:rPr>
              <a:t>vMix·OBS·Videohub 실기기 확인 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06A12"/>
                </a:solidFill>
                <a:latin typeface="Menl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41401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Apple SD Gothic Neo"/>
              </a:rPr>
              <a:t>진행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77977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635F"/>
                </a:solidFill>
                <a:latin typeface="Apple SD Gothic Neo"/>
              </a:rPr>
              <a:t>이번 주 손을 대고 있는 5개 영역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43230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06A12"/>
                </a:solidFill>
                <a:latin typeface="Menl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41401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Apple SD Gothic Neo"/>
              </a:rPr>
              <a:t>오늘 아침(07-11) 하이라이트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77977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635F"/>
                </a:solidFill>
                <a:latin typeface="Apple SD Gothic Neo"/>
              </a:rPr>
              <a:t>중계 아이템 엔진 · 자막담당 페이지 · 버그 12건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7355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06A12"/>
                </a:solidFill>
                <a:latin typeface="Menl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2552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Apple SD Gothic Neo"/>
              </a:rPr>
              <a:t>미착수 — 결정이 필요한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362102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635F"/>
                </a:solidFill>
                <a:latin typeface="Apple SD Gothic Neo"/>
              </a:rPr>
              <a:t>로그인/계정, 백엔드 스택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27355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06A12"/>
                </a:solidFill>
                <a:latin typeface="Menlo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32552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Apple SD Gothic Neo"/>
              </a:rPr>
              <a:t>상업화 로드맵 A → 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362102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635F"/>
                </a:solidFill>
                <a:latin typeface="Apple SD Gothic Neo"/>
              </a:rPr>
              <a:t>결정 이후의 단계별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A06A12"/>
                </a:solidFill>
                <a:latin typeface="Menlo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0965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201D"/>
                </a:solidFill>
                <a:latin typeface="Apple SD Gothic Neo"/>
              </a:rPr>
              <a:t>단기 일정 (→ 07-17)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4622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635F"/>
                </a:solidFill>
                <a:latin typeface="Apple SD Gothic Neo"/>
              </a:rPr>
              <a:t>이번 주 안에 보여줄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02 · AGENDA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핵심 요약 — 세 줄로 보는 지금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82496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82496"/>
            <a:ext cx="3520440" cy="63500"/>
          </a:xfrm>
          <a:prstGeom prst="rect">
            <a:avLst/>
          </a:prstGeom>
          <a:solidFill>
            <a:srgbClr val="1F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9385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F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50" b="1">
                <a:solidFill>
                  <a:srgbClr val="1F9A56"/>
                </a:solidFill>
                <a:latin typeface="Menlo"/>
              </a:rPr>
              <a:t>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59736"/>
            <a:ext cx="306324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6635F"/>
                </a:solidFill>
                <a:latin typeface="Apple SD Gothic Neo"/>
              </a:rPr>
              <a:t>뉴스 큐시트 파이프라인, 전환효과, 자막(CG), 서버 클립 재생, Videohub 라우터, 스위처까지 전부 실장비(vMix·OBS·Videohub)로 검증 완료.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82496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82496"/>
            <a:ext cx="3520440" cy="63500"/>
          </a:xfrm>
          <a:prstGeom prst="rect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9385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50" b="1">
                <a:solidFill>
                  <a:srgbClr val="A06A12"/>
                </a:solidFill>
                <a:latin typeface="Menlo"/>
              </a:rPr>
              <a:t>진행 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9736"/>
            <a:ext cx="306324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6635F"/>
                </a:solidFill>
                <a:latin typeface="Apple SD Gothic Neo"/>
              </a:rPr>
              <a:t>중계(LIVE) 아이템 시퀀스 엔진과 자막담당 독립 페이지를 오늘 아침 1차 완료. 실장비 화면 구성 검증만 남음.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82496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682496"/>
            <a:ext cx="3520440" cy="63500"/>
          </a:xfrm>
          <a:prstGeom prst="rect">
            <a:avLst/>
          </a:prstGeom>
          <a:solidFill>
            <a:srgbClr val="C0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48472" y="19385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7E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50" b="1">
                <a:solidFill>
                  <a:srgbClr val="C0322C"/>
                </a:solidFill>
                <a:latin typeface="Menlo"/>
              </a:rPr>
              <a:t>미착수 · 결정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459736"/>
            <a:ext cx="306324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6635F"/>
                </a:solidFill>
                <a:latin typeface="Apple SD Gothic Neo"/>
              </a:rPr>
              <a:t>로그인/계정 시스템은 코드 0%. 사업 모델(온프레미스/SaaS/하이브리드)과 백엔드 스택 결정이 선행되어야 함 — 이번 발표의 핵심 안건.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03 ·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완료 — 실장비 검증까지 끝난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6635F"/>
                </a:solidFill>
                <a:latin typeface="Apple SD Gothic Neo"/>
              </a:rPr>
              <a:t>아래 전부 실제 vMix·OBS·Videohub 하드웨어로 확인된 항목입니다.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02536"/>
          <a:ext cx="11064240" cy="4160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34640"/>
                <a:gridCol w="6766560"/>
                <a:gridCol w="146304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5201D"/>
                          </a:solidFill>
                          <a:latin typeface="Apple SD Gothic Neo"/>
                        </a:rPr>
                        <a:t>뉴스 큐시트 파이프라인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6635F"/>
                          </a:solidFill>
                          <a:latin typeface="Apple SD Gothic Neo"/>
                        </a:rPr>
                        <a:t>MARS 제작 → Master 진행, 파일/postMessage 핸드오프, 연속 핸드오프까지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9A56"/>
                          </a:solidFill>
                          <a:latin typeface="Menlo"/>
                        </a:rPr>
                        <a:t>실vMix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5201D"/>
                          </a:solidFill>
                          <a:latin typeface="Apple SD Gothic Neo"/>
                        </a:rPr>
                        <a:t>전환효과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6635F"/>
                          </a:solidFill>
                          <a:latin typeface="Apple SD Gothic Neo"/>
                        </a:rPr>
                        <a:t>타입별 원칙(REPORT=Cut/Cut, ANCHOR=Cut/Mix 등) + 7종 프리셋 전부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9A56"/>
                          </a:solidFill>
                          <a:latin typeface="Menlo"/>
                        </a:rPr>
                        <a:t>실vMix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5201D"/>
                          </a:solidFill>
                          <a:latin typeface="Apple SD Gothic Neo"/>
                        </a:rPr>
                        <a:t>자막(CG)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6635F"/>
                          </a:solidFill>
                          <a:latin typeface="Apple SD Gothic Neo"/>
                        </a:rPr>
                        <a:t>8슬롯 오버레이, IN/OUT 타이밍, GT 매칭, 브라우저 오버레이(vMix+OBS)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9A56"/>
                          </a:solidFill>
                          <a:latin typeface="Menlo"/>
                        </a:rPr>
                        <a:t>실vMix·실OBS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5201D"/>
                          </a:solidFill>
                          <a:latin typeface="Apple SD Gothic Neo"/>
                        </a:rPr>
                        <a:t>서버/클립 재생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6635F"/>
                          </a:solidFill>
                          <a:latin typeface="Apple SD Gothic Neo"/>
                        </a:rPr>
                        <a:t>SRV1~3 리스트 재생, 프리롤·조기전환·프레임 트림, 충돌 방지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9A56"/>
                          </a:solidFill>
                          <a:latin typeface="Menlo"/>
                        </a:rPr>
                        <a:t>실vMix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5201D"/>
                          </a:solidFill>
                          <a:latin typeface="Apple SD Gothic Neo"/>
                        </a:rPr>
                        <a:t>OBS 병렬 버전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6635F"/>
                          </a:solidFill>
                          <a:latin typeface="Apple SD Gothic Neo"/>
                        </a:rPr>
                        <a:t>씬 전환·클립·CG — 로케일/렌더링 버그 발견·수정 포함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9A56"/>
                          </a:solidFill>
                          <a:latin typeface="Menlo"/>
                        </a:rPr>
                        <a:t>실OBS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5201D"/>
                          </a:solidFill>
                          <a:latin typeface="Apple SD Gothic Neo"/>
                        </a:rPr>
                        <a:t>Videohub 라우터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6635F"/>
                          </a:solidFill>
                          <a:latin typeface="Apple SD Gothic Neo"/>
                        </a:rPr>
                        <a:t>TCP 릴레이, 아이템별 크로스포인트 전환 (확장 Phase 1)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9A56"/>
                          </a:solidFill>
                          <a:latin typeface="Menlo"/>
                        </a:rPr>
                        <a:t>실장비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5201D"/>
                          </a:solidFill>
                          <a:latin typeface="Apple SD Gothic Neo"/>
                        </a:rPr>
                        <a:t>스위처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6635F"/>
                          </a:solidFill>
                          <a:latin typeface="Apple SD Gothic Neo"/>
                        </a:rPr>
                        <a:t>PGM/PVW/AUTO/CUT + 버스 스왑 동기화, 단축키·팝업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9A56"/>
                          </a:solidFill>
                          <a:latin typeface="Menlo"/>
                        </a:rPr>
                        <a:t>실vMix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5201D"/>
                          </a:solidFill>
                          <a:latin typeface="Apple SD Gothic Neo"/>
                        </a:rPr>
                        <a:t>운영 안전장치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6635F"/>
                          </a:solidFill>
                          <a:latin typeface="Apple SD Gothic Neo"/>
                        </a:rPr>
                        <a:t>30건 UX 감사(가짜 성공 토스트, confirm 게이트, undo 등) 전건 수정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9A56"/>
                          </a:solidFill>
                          <a:latin typeface="Menlo"/>
                        </a:rPr>
                        <a:t>Playwright</a:t>
                      </a:r>
                    </a:p>
                  </a:txBody>
                  <a:tcPr marL="101600" marR="101600" marT="50800" marB="50800" anchor="ctr">
                    <a:solidFill>
                      <a:srgbClr val="E4E8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04 ·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진행 중</a:t>
            </a:r>
          </a:p>
        </p:txBody>
      </p:sp>
      <p:sp>
        <p:nvSpPr>
          <p:cNvPr id="6" name="Oval 5"/>
          <p:cNvSpPr/>
          <p:nvPr/>
        </p:nvSpPr>
        <p:spPr>
          <a:xfrm>
            <a:off x="579628" y="1712976"/>
            <a:ext cx="101600" cy="1016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36776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장비 확장 (Expansion_PRD)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Videohub Phase 1 완료 → VMU(영상믹서) → AMU(오디오믹서) 단계로 확장 예정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2346960"/>
            <a:ext cx="11057839" cy="0"/>
          </a:xfrm>
          <a:prstGeom prst="line">
            <a:avLst/>
          </a:prstGeom>
          <a:ln w="6350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79628" y="2499360"/>
            <a:ext cx="101600" cy="1016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2316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제작 큐시트 (LIVE 시사교양)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73405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MARS 저작 + 화면 리허설까지 완료. Master 실행 엔진 연동은 아직 (뉴스 TYPE_RULES 전용이라 미지원)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3133344"/>
            <a:ext cx="11057839" cy="0"/>
          </a:xfrm>
          <a:prstGeom prst="line">
            <a:avLst/>
          </a:prstGeom>
          <a:ln w="6350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79628" y="3285744"/>
            <a:ext cx="101600" cy="1016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09544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뉴스 아이템 — 중계 아이템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520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풀 시퀀스 완료(07-11): ANC→[SPLIT-A→LIVE→SPLIT-S]×n→LIVE 자동 진행 엔진. vMix에 DVE/Multi-View 화면 구성되면 실장비 검증 필요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3919728"/>
            <a:ext cx="11057839" cy="0"/>
          </a:xfrm>
          <a:prstGeom prst="line">
            <a:avLst/>
          </a:prstGeom>
          <a:ln w="6350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79628" y="4072128"/>
            <a:ext cx="101600" cy="1016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959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HTML 자막 이용 및 UI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30682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자막담당 페이지 1차 완료(07-11): cg-operator.html + server.py 릴레이 큐. GT 템플릿 라벨 동기화, 실PC 2대 테스트 남음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4706112"/>
            <a:ext cx="11057839" cy="0"/>
          </a:xfrm>
          <a:prstGeom prst="line">
            <a:avLst/>
          </a:prstGeom>
          <a:ln w="6350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9628" y="4858512"/>
            <a:ext cx="101600" cy="1016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78231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버그 수정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09320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07-11 집중 스윕 — 온에어 회선 프리라우팅, 중계 자막 미발사 등 총 12건 수정. 마감(07-17)까지 추가 발견분 정리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05 · 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SECTION 4 ·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오늘 아침(07-11) 하이라이트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6635F"/>
                </a:solidFill>
                <a:latin typeface="Apple SD Gothic Neo"/>
              </a:rPr>
              <a:t>지난 두 커밋에서 실장비 트레이스와 함께 검증한 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56816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56816"/>
            <a:ext cx="3520440" cy="6350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203704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중계(LIVE) 시퀀스 엔진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2934716"/>
            <a:ext cx="63500" cy="6350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7121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newsformat.md §2.3 기반 질문수(n) 자동 진행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3538220"/>
            <a:ext cx="63500" cy="6350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ANC → [SPLIT-A → LIVE → SPLIT-S] × n → LIVE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" y="4141724"/>
            <a:ext cx="63500" cy="6350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7822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MARS 기사 "질문 수" 필드 → 아이템 전파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" y="4745228"/>
            <a:ext cx="63500" cy="6350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8172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MARS `출`(출연/중계) 코드 → BRIDGE 오귀속 버그 수정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956816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956816"/>
            <a:ext cx="3520440" cy="63500"/>
          </a:xfrm>
          <a:prstGeom prst="rect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203704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자막담당 독립 페이지</a:t>
            </a:r>
          </a:p>
        </p:txBody>
      </p:sp>
      <p:sp>
        <p:nvSpPr>
          <p:cNvPr id="21" name="Oval 20"/>
          <p:cNvSpPr/>
          <p:nvPr/>
        </p:nvSpPr>
        <p:spPr>
          <a:xfrm>
            <a:off x="4590288" y="2934716"/>
            <a:ext cx="63500" cy="635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287121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cg-operator.html 신규</a:t>
            </a:r>
          </a:p>
        </p:txBody>
      </p:sp>
      <p:sp>
        <p:nvSpPr>
          <p:cNvPr id="23" name="Oval 22"/>
          <p:cNvSpPr/>
          <p:nvPr/>
        </p:nvSpPr>
        <p:spPr>
          <a:xfrm>
            <a:off x="4590288" y="3538220"/>
            <a:ext cx="63500" cy="635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474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vMix 직접 호출 없이 server.py 릴레이 큐 경유</a:t>
            </a:r>
          </a:p>
        </p:txBody>
      </p:sp>
      <p:sp>
        <p:nvSpPr>
          <p:cNvPr id="25" name="Oval 24"/>
          <p:cNvSpPr/>
          <p:nvPr/>
        </p:nvSpPr>
        <p:spPr>
          <a:xfrm>
            <a:off x="4590288" y="4141724"/>
            <a:ext cx="63500" cy="635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407822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Master가 폴링·실행 (GT 매핑 중복 구현 안 함)</a:t>
            </a:r>
          </a:p>
        </p:txBody>
      </p:sp>
      <p:sp>
        <p:nvSpPr>
          <p:cNvPr id="27" name="Oval 26"/>
          <p:cNvSpPr/>
          <p:nvPr/>
        </p:nvSpPr>
        <p:spPr>
          <a:xfrm>
            <a:off x="4590288" y="4745228"/>
            <a:ext cx="63500" cy="635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468172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타이핑 도중 폴링으로 지워지던 버그 등 수정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1956816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2" y="1956816"/>
            <a:ext cx="3520440" cy="63500"/>
          </a:xfrm>
          <a:prstGeom prst="rect">
            <a:avLst/>
          </a:prstGeom>
          <a:solidFill>
            <a:srgbClr val="C0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2203704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버그 스윕 — 총 12건</a:t>
            </a:r>
          </a:p>
        </p:txBody>
      </p:sp>
      <p:sp>
        <p:nvSpPr>
          <p:cNvPr id="32" name="Oval 31"/>
          <p:cNvSpPr/>
          <p:nvPr/>
        </p:nvSpPr>
        <p:spPr>
          <a:xfrm>
            <a:off x="8366760" y="2934716"/>
            <a:ext cx="63500" cy="63500"/>
          </a:xfrm>
          <a:prstGeom prst="ellipse">
            <a:avLst/>
          </a:prstGeom>
          <a:solidFill>
            <a:srgbClr val="C0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8784" y="287121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온에어 중 회선 끊길 뻔한 프리라우팅 범위 제한</a:t>
            </a:r>
          </a:p>
        </p:txBody>
      </p:sp>
      <p:sp>
        <p:nvSpPr>
          <p:cNvPr id="34" name="Oval 33"/>
          <p:cNvSpPr/>
          <p:nvPr/>
        </p:nvSpPr>
        <p:spPr>
          <a:xfrm>
            <a:off x="8366760" y="3538220"/>
            <a:ext cx="63500" cy="63500"/>
          </a:xfrm>
          <a:prstGeom prst="ellipse">
            <a:avLst/>
          </a:prstGeom>
          <a:solidFill>
            <a:srgbClr val="C0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3474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중계 자막 미발사 → 첫 진행 시점 발사로 수정</a:t>
            </a:r>
          </a:p>
        </p:txBody>
      </p:sp>
      <p:sp>
        <p:nvSpPr>
          <p:cNvPr id="36" name="Oval 35"/>
          <p:cNvSpPr/>
          <p:nvPr/>
        </p:nvSpPr>
        <p:spPr>
          <a:xfrm>
            <a:off x="8366760" y="4141724"/>
            <a:ext cx="63500" cy="63500"/>
          </a:xfrm>
          <a:prstGeom prst="ellipse">
            <a:avLst/>
          </a:prstGeom>
          <a:solidFill>
            <a:srgbClr val="C0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407822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vMix 미연결 시 자막요청 증발 방지</a:t>
            </a:r>
          </a:p>
        </p:txBody>
      </p:sp>
      <p:sp>
        <p:nvSpPr>
          <p:cNvPr id="38" name="Oval 37"/>
          <p:cNvSpPr/>
          <p:nvPr/>
        </p:nvSpPr>
        <p:spPr>
          <a:xfrm>
            <a:off x="8366760" y="4745228"/>
            <a:ext cx="63500" cy="63500"/>
          </a:xfrm>
          <a:prstGeom prst="ellipse">
            <a:avLst/>
          </a:prstGeom>
          <a:solidFill>
            <a:srgbClr val="C0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784" y="468172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MARS 재전송 시 Master 전용 설정 소실 방지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06 · TODAY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미착수 — 설계 문서만 존재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82496"/>
            <a:ext cx="11064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013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201D"/>
                </a:solidFill>
                <a:latin typeface="Apple SD Gothic Neo"/>
              </a:rPr>
              <a:t>로그인 / 계정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8" y="18288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3D0A"/>
                </a:solidFill>
                <a:latin typeface="Menlo"/>
              </a:rPr>
              <a:t>spec/login.md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810512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코드 0%. 선행 결정 필요: 사업 모델 + 백엔드 스택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95728"/>
            <a:ext cx="11064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201D"/>
                </a:solidFill>
                <a:latin typeface="Apple SD Gothic Neo"/>
              </a:rPr>
              <a:t>뉴스 형식 표준화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54203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3D0A"/>
                </a:solidFill>
                <a:latin typeface="Menlo"/>
              </a:rPr>
              <a:t>spec/newsformat.md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2523744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MOS Protocol/NRCS 연동 데이터 모델 — 설계 단계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11064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278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201D"/>
                </a:solidFill>
                <a:latin typeface="Apple SD Gothic Neo"/>
              </a:rPr>
              <a:t>Phase 2 백엔드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25526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3D0A"/>
                </a:solidFill>
                <a:latin typeface="Menlo"/>
              </a:rPr>
              <a:t>spec/NEWS_BROADCAST_PRD.md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3236976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멀티유저·권한·DB — 여전히 Phase 1 (JSON 파일)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22192"/>
            <a:ext cx="11064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410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201D"/>
                </a:solidFill>
                <a:latin typeface="Apple SD Gothic Neo"/>
              </a:rPr>
              <a:t>결제/구독/멀티테넌시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96849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3D0A"/>
                </a:solidFill>
                <a:latin typeface="Menlo"/>
              </a:rPr>
              <a:t>(문서 없음)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950208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상업화 시 별도 기획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35424"/>
            <a:ext cx="11064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6542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201D"/>
                </a:solidFill>
                <a:latin typeface="Apple SD Gothic Neo"/>
              </a:rPr>
              <a:t>실카메라 연동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8" y="468172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3D0A"/>
                </a:solidFill>
                <a:latin typeface="Menlo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663440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하드웨어 미보유. 현재 카메라 슬롯은 대체 인풋으로 자리만 매핑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07 ·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SECTION 6 · 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결정이 필요한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6635F"/>
                </a:solidFill>
                <a:latin typeface="Apple SD Gothic Neo"/>
              </a:rPr>
              <a:t>로그인 구현 전에 방향이 서야 하는 사업/아키텍처 결정 두 가지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56816"/>
            <a:ext cx="11064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215798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nlo"/>
              </a:rPr>
              <a:t>결정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139696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201D"/>
                </a:solidFill>
                <a:latin typeface="Apple SD Gothic Neo"/>
              </a:rPr>
              <a:t>상업화 모델: 온프레미스 라이선스 vs 클라우드 SaaS vs 하이브리드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2615184"/>
            <a:ext cx="3456432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77977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50" b="1">
                <a:solidFill>
                  <a:srgbClr val="4A6FA5"/>
                </a:solidFill>
                <a:latin typeface="Menlo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5201D"/>
                </a:solidFill>
                <a:latin typeface="Apple SD Gothic Neo"/>
              </a:rPr>
              <a:t>온프레미스 라이선스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38144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56635F"/>
                </a:solidFill>
                <a:latin typeface="Apple SD Gothic Neo"/>
              </a:rPr>
              <a:t>방송사마다 독립 설치. 로그인은 사실상 라이선스 키 검증 수준.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615184"/>
            <a:ext cx="3456432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35424" y="277977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1E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50" b="1">
                <a:solidFill>
                  <a:srgbClr val="4A6FA5"/>
                </a:solidFill>
                <a:latin typeface="Menlo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09067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5201D"/>
                </a:solidFill>
                <a:latin typeface="Apple SD Gothic Neo"/>
              </a:rPr>
              <a:t>클라우드 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438144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56635F"/>
                </a:solidFill>
                <a:latin typeface="Apple SD Gothic Neo"/>
              </a:rPr>
              <a:t>방송사별 계정·소셜 로그인·구독. LAN 장비 제어는 server.py가 현장에 그대로 남음.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6136" y="2615184"/>
            <a:ext cx="3456432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9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10728" y="277977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DF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50" b="1">
                <a:solidFill>
                  <a:srgbClr val="1F9A56"/>
                </a:solidFill>
                <a:latin typeface="Menlo"/>
              </a:rPr>
              <a:t>권장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309067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5201D"/>
                </a:solidFill>
                <a:latin typeface="Apple SD Gothic Neo"/>
              </a:rPr>
              <a:t>B의 하이브리드로, 1단계는 로컬 계정만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3438144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56635F"/>
                </a:solidFill>
                <a:latin typeface="Apple SD Gothic Neo"/>
              </a:rPr>
              <a:t>소셜 로그인 3종을 한번에 벌이지 않고 로컬 계정으로 먼저 검증 후 확장.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17136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528" y="47183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nlo"/>
              </a:rPr>
              <a:t>결정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700016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5201D"/>
                </a:solidFill>
                <a:latin typeface="Apple SD Gothic Neo"/>
              </a:rPr>
              <a:t>백엔드 스택 정리: 기존 PRD(Node+Express+PostgreSQL) vs 신규 login.md(Next.js+Supabase)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157216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6635F"/>
                </a:solidFill>
                <a:latin typeface="Apple SD Gothic Neo"/>
              </a:rPr>
              <a:t>두 문서가 서로 다른 백엔드를 가정한 채 공존 — 정리 없이 진행하면 두 백엔드가 중복 관리되는 상태로 굳어질 위험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08 ·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상업화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6635F"/>
                </a:solidFill>
                <a:latin typeface="Apple SD Gothic Neo"/>
              </a:rPr>
              <a:t>결정 1·2가 선행된다는 전제로 정리한 이후 단계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2139696"/>
            <a:ext cx="0" cy="3383280"/>
          </a:xfrm>
          <a:prstGeom prst="line">
            <a:avLst/>
          </a:prstGeom>
          <a:ln w="19050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76656" y="2027936"/>
            <a:ext cx="292608" cy="292608"/>
          </a:xfrm>
          <a:prstGeom prst="ellipse">
            <a:avLst/>
          </a:prstGeom>
          <a:solidFill>
            <a:srgbClr val="A06A12"/>
          </a:solidFill>
          <a:ln w="25400">
            <a:solidFill>
              <a:srgbClr val="EE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842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5201D"/>
                </a:solidFill>
                <a:latin typeface="Apple SD Gothic Neo"/>
              </a:rPr>
              <a:t>사업 모델 확정 + 백엔드 스택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95144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결정 1·2를 문서로 확정, login.md를 확정된 모델에 맞춰 개정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2704592"/>
            <a:ext cx="292608" cy="292608"/>
          </a:xfrm>
          <a:prstGeom prst="ellipse">
            <a:avLst/>
          </a:prstGeom>
          <a:solidFill>
            <a:srgbClr val="A06A12"/>
          </a:solidFill>
          <a:ln w="25400">
            <a:solidFill>
              <a:srgbClr val="EE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609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5201D"/>
                </a:solidFill>
                <a:latin typeface="Apple SD Gothic Neo"/>
              </a:rPr>
              <a:t>로컬 계정 로그인 1단계 구현 + 실사용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회원가입~비밀번호 재설정까지 체크리스트 5개 항목 실제 통과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3381248"/>
            <a:ext cx="292608" cy="292608"/>
          </a:xfrm>
          <a:prstGeom prst="ellipse">
            <a:avLst/>
          </a:prstGeom>
          <a:solidFill>
            <a:srgbClr val="A06A12"/>
          </a:solidFill>
          <a:ln w="25400">
            <a:solidFill>
              <a:srgbClr val="EE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3756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5201D"/>
                </a:solidFill>
                <a:latin typeface="Apple SD Gothic Neo"/>
              </a:rPr>
              <a:t>소셜 로그인 단계적 추가 (구글→카카오→네이버)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48456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네이버는 Custom OAuth라 리스크 최대 — 가장 늦게, raw curl 검증부터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4057904"/>
            <a:ext cx="292608" cy="292608"/>
          </a:xfrm>
          <a:prstGeom prst="ellipse">
            <a:avLst/>
          </a:prstGeom>
          <a:solidFill>
            <a:srgbClr val="A06A12"/>
          </a:solidFill>
          <a:ln w="25400">
            <a:solidFill>
              <a:srgbClr val="EE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1421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5201D"/>
                </a:solidFill>
                <a:latin typeface="Apple SD Gothic Neo"/>
              </a:rPr>
              <a:t>계정 연동 정책 + 보안 점검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25112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RLS, CSRF state 검증, service_role 키 노출 점검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" y="4734560"/>
            <a:ext cx="292608" cy="292608"/>
          </a:xfrm>
          <a:prstGeom prst="ellipse">
            <a:avLst/>
          </a:prstGeom>
          <a:solidFill>
            <a:srgbClr val="A06A12"/>
          </a:solidFill>
          <a:ln w="25400">
            <a:solidFill>
              <a:srgbClr val="EE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9087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5201D"/>
                </a:solidFill>
                <a:latin typeface="Apple SD Gothic Neo"/>
              </a:rPr>
              <a:t>방송사별 데이터 격리 + 과금/구독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01768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멀티테넌시 스키마, 요금제별 기능 제한 — 별도 기획 세션 필요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" y="5411216"/>
            <a:ext cx="292608" cy="292608"/>
          </a:xfrm>
          <a:prstGeom prst="ellipse">
            <a:avLst/>
          </a:prstGeom>
          <a:solidFill>
            <a:srgbClr val="A06A12"/>
          </a:solidFill>
          <a:ln w="25400">
            <a:solidFill>
              <a:srgbClr val="EE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nlo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675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5201D"/>
                </a:solidFill>
                <a:latin typeface="Apple SD Gothic Neo"/>
              </a:rPr>
              <a:t>파일럿 방송사 실운영 + 실카메라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78424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6635F"/>
                </a:solidFill>
                <a:latin typeface="Apple SD Gothic Neo"/>
              </a:rPr>
              <a:t>무카메라 상태를 실제 환경에서 검증, 라이선싱/보안 최종 감사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09 ·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09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508000"/>
            <a:ext cx="88900" cy="88900"/>
          </a:xfrm>
          <a:prstGeom prst="ellipse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728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3D0A"/>
                </a:solidFill>
                <a:latin typeface="Menlo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01D"/>
                </a:solidFill>
                <a:latin typeface="Apple SD Gothic Neo"/>
              </a:rPr>
              <a:t>단기 일정 → 2026-07-17 중간보고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36776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7E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00" b="1">
                <a:solidFill>
                  <a:srgbClr val="C0322C"/>
                </a:solidFill>
                <a:latin typeface="Menlo"/>
              </a:rPr>
              <a:t>월 7/13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17556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5201D"/>
                </a:solidFill>
                <a:latin typeface="Apple SD Gothic Neo"/>
              </a:rPr>
              <a:t>결정 1·2 확정 — 사업 모델 + 백엔드 스택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0" y="176479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7E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900" b="1">
                <a:solidFill>
                  <a:srgbClr val="C0322C"/>
                </a:solidFill>
                <a:latin typeface="Menlo"/>
              </a:rPr>
              <a:t>최우선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95144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241401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00" b="1">
                <a:solidFill>
                  <a:srgbClr val="56635F"/>
                </a:solidFill>
                <a:latin typeface="Menlo"/>
              </a:rPr>
              <a:t>월 7/13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41401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201D"/>
                </a:solidFill>
                <a:latin typeface="Apple SD Gothic Neo"/>
              </a:rPr>
              <a:t>login.md를 확정된 방향에 맞춰 개정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53512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" y="30723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00" b="1">
                <a:solidFill>
                  <a:srgbClr val="56635F"/>
                </a:solidFill>
                <a:latin typeface="Menlo"/>
              </a:rPr>
              <a:t>화 7/14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307238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201D"/>
                </a:solidFill>
                <a:latin typeface="Apple SD Gothic Neo"/>
              </a:rPr>
              <a:t>Supabase 프로젝트 생성 + 환경변수/DB 스키마 준비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1188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73075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00" b="1">
                <a:solidFill>
                  <a:srgbClr val="56635F"/>
                </a:solidFill>
                <a:latin typeface="Menlo"/>
              </a:rPr>
              <a:t>화 7/14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3730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201D"/>
                </a:solidFill>
                <a:latin typeface="Apple SD Gothic Neo"/>
              </a:rPr>
              <a:t>Next.js 스캐폴딩 + 기존 정적 HTML과의 공존 방식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70248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" y="43891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00" b="1">
                <a:solidFill>
                  <a:srgbClr val="56635F"/>
                </a:solidFill>
                <a:latin typeface="Menlo"/>
              </a:rPr>
              <a:t>수~목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43891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201D"/>
                </a:solidFill>
                <a:latin typeface="Apple SD Gothic Neo"/>
              </a:rPr>
              <a:t>로컬 계정 1단계 구현 + 체크리스트 5건 수동 통과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28616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B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" y="50474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/>
            <a:r>
              <a:rPr sz="1000" b="1">
                <a:solidFill>
                  <a:srgbClr val="56635F"/>
                </a:solidFill>
                <a:latin typeface="Menlo"/>
              </a:rPr>
              <a:t>금 7/17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5688" y="5047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201D"/>
                </a:solidFill>
                <a:latin typeface="Apple SD Gothic Neo"/>
              </a:rPr>
              <a:t>구글 OAuth 앱 등록 선착수, 카카오/네이버 사전 확인 + 중간보고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72414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3D0A"/>
                </a:solidFill>
                <a:latin typeface="Apple SD Gothic Neo"/>
              </a:rPr>
              <a:t>※ 소셜 로그인 3종 완성은 이번 주 목표가 아님 — "로컬 계정 실동작 + 방향 결정"이 보고의 핵심.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10 · SCHEDULE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C3D0A"/>
                </a:solidFill>
                <a:latin typeface="Menlo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2316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5201D"/>
                </a:solidFill>
                <a:latin typeface="Apple SD Gothic Neo"/>
              </a:rPr>
              <a:t>제품은 이미 동작합니다.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6324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56635F"/>
                </a:solidFill>
                <a:latin typeface="Apple SD Gothic Neo"/>
              </a:rPr>
              <a:t>남은 것은 "누가, 어떻게 로그인해서 쓰는가"의 방향 결정입니다.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77639"/>
            <a:ext cx="2011680" cy="25400"/>
          </a:xfrm>
          <a:prstGeom prst="rect">
            <a:avLst/>
          </a:prstGeom>
          <a:solidFill>
            <a:srgbClr val="A0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9628" y="4432300"/>
            <a:ext cx="101600" cy="101600"/>
          </a:xfrm>
          <a:prstGeom prst="ellipse">
            <a:avLst/>
          </a:prstGeom>
          <a:solidFill>
            <a:srgbClr val="1F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5201D"/>
                </a:solidFill>
                <a:latin typeface="Apple SD Gothic Neo"/>
              </a:rPr>
              <a:t>큐시트·전환효과·자막·서버재생·라우터·스위처 — 전부 실장비 검증 완료</a:t>
            </a:r>
          </a:p>
        </p:txBody>
      </p:sp>
      <p:sp>
        <p:nvSpPr>
          <p:cNvPr id="10" name="Oval 9"/>
          <p:cNvSpPr/>
          <p:nvPr/>
        </p:nvSpPr>
        <p:spPr>
          <a:xfrm>
            <a:off x="579628" y="4889500"/>
            <a:ext cx="101600" cy="101600"/>
          </a:xfrm>
          <a:prstGeom prst="ellipse">
            <a:avLst/>
          </a:prstGeom>
          <a:solidFill>
            <a:srgbClr val="1F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800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5201D"/>
                </a:solidFill>
                <a:latin typeface="Apple SD Gothic Neo"/>
              </a:rPr>
              <a:t>오늘 아침 중계 아이템 엔진 + 자막담당 페이지까지 1차 완료</a:t>
            </a:r>
          </a:p>
        </p:txBody>
      </p:sp>
      <p:sp>
        <p:nvSpPr>
          <p:cNvPr id="12" name="Oval 11"/>
          <p:cNvSpPr/>
          <p:nvPr/>
        </p:nvSpPr>
        <p:spPr>
          <a:xfrm>
            <a:off x="579628" y="5346700"/>
            <a:ext cx="101600" cy="101600"/>
          </a:xfrm>
          <a:prstGeom prst="ellipse">
            <a:avLst/>
          </a:prstGeom>
          <a:solidFill>
            <a:srgbClr val="1F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5201D"/>
                </a:solidFill>
                <a:latin typeface="Apple SD Gothic Neo"/>
              </a:rPr>
              <a:t>다음 관문은 코드가 아니라 결정: 사업 모델 + 백엔드 스택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MARS/Master 뉴스 자동송출 시스템 · 중간발표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98687" y="6446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11 · CLOSING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1807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B968F"/>
                </a:solidFill>
                <a:latin typeface="Menlo"/>
              </a:rPr>
              <a:t>11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D6DB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