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지분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295C"/>
              </a:solidFill>
              <a:effectLst/>
            </c:spPr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3FA7A1"/>
              </a:solidFill>
              <a:effectLst/>
            </c:spPr>
          </c:dPt>
          <c:dPt>
            <c:idx val="4"/>
            <c:bubble3D val="0"/>
            <c:spPr>
              <a:solidFill>
                <a:srgbClr val="7FB6C2"/>
              </a:solidFill>
              <a:effectLst/>
            </c:spPr>
          </c:dPt>
          <c:dPt>
            <c:idx val="5"/>
            <c:bubble3D val="0"/>
            <c:spPr>
              <a:solidFill>
                <a:srgbClr val="B9D4DC"/>
              </a:solidFill>
              <a:effectLst/>
            </c:spPr>
          </c:dPt>
          <c:dPt>
            <c:idx val="6"/>
            <c:bubble3D val="0"/>
            <c:spPr>
              <a:solidFill>
                <a:srgbClr val="DCE8E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대표/개발총괄</c:v>
                </c:pt>
                <c:pt idx="1">
                  <c:v>공동개발자</c:v>
                </c:pt>
                <c:pt idx="2">
                  <c:v>기획/PM</c:v>
                </c:pt>
                <c:pt idx="3">
                  <c:v>디자이너</c:v>
                </c:pt>
                <c:pt idx="4">
                  <c:v>마케팅·영업</c:v>
                </c:pt>
                <c:pt idx="5">
                  <c:v>자문단 Pool</c:v>
                </c:pt>
                <c:pt idx="6">
                  <c:v>ESOP(예비)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40</c:v>
                </c:pt>
                <c:pt idx="1">
                  <c:v>15</c:v>
                </c:pt>
                <c:pt idx="2">
                  <c:v>10</c:v>
                </c:pt>
                <c:pt idx="3">
                  <c:v>7</c:v>
                </c:pt>
                <c:pt idx="4">
                  <c:v>8</c:v>
                </c:pt>
                <c:pt idx="5">
                  <c:v>5</c:v>
                </c:pt>
                <c:pt idx="6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A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TECH · CO-FOUNDING PROPOSAL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OnAir Connect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없이, 어디서나 — vMix 웹 원격 제어 플랫폼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방송 기획 · PD · 편성 · 디자인 전문가와 함께 만드는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차세대 방송 제작 지원 도구 — 공동창업 및 참여 제안서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989320"/>
            <a:ext cx="2011680" cy="0"/>
          </a:xfrm>
          <a:prstGeom prst="line">
            <a:avLst/>
          </a:prstGeom>
          <a:noFill/>
          <a:ln w="25400">
            <a:solidFill>
              <a:srgbClr val="3FA7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조충남 (Peter Cho)  ·  Founder &amp; Lead Developer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나눌 이야기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219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00200" y="22585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지금인가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67919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vMix 사용자들이 실제로 겪는 불편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20574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22219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40880" y="22585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만드는가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67919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OnAir Connect 솔루션과 시장 기회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7764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600200" y="38130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다른가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423367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현황과 제품 로드맵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36118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37764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040880" y="381304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필요한가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423367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역할과 참여 방식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309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600200" y="53675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나누는가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578815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구조와 지분 프레임워크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516636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53309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040880" y="53675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578815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참여를 위한 구체적 절차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·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vMix는 강력하지만, 여전히 불편합니다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사이트(Capterra, G2)와 vMix 공식 포럼을 조사해 확인한 반복적 불만 4가지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2103120"/>
            <a:ext cx="1033272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130552"/>
            <a:ext cx="2743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접속 장벽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0" y="2130552"/>
            <a:ext cx="7086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접근이 기본 차단되어 있어, 방화벽·포트포워딩 지식 없이는 외부에서 제어할 수 없음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729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34440" y="3127248"/>
            <a:ext cx="1033272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154680"/>
            <a:ext cx="2743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가파른 학습 곡선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297680" y="3154680"/>
            <a:ext cx="7086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자원봉사자 중심 조직(교회 등)에서 초기 진입장벽이 크고, 기능이 많을수록 설정을 다 기억하기 어려움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34440" y="4151376"/>
            <a:ext cx="1033272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4178808"/>
            <a:ext cx="2743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 이전 마찰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97680" y="4178808"/>
            <a:ext cx="7086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 변경 시 기존 PC를 수동으로 Deactivate해야만 새 기기에서 재활성화 가능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2122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21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34440" y="5175504"/>
            <a:ext cx="1033272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5202936"/>
            <a:ext cx="2743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안정성 모니터링 부재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297680" y="5202936"/>
            <a:ext cx="7086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 중 크래시·연결 끊김을 사용자가 스스로 알아채기 전까지 아무 알림도 없음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· 시장 기회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개의 타겟, 하나의 공통 니즈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"방송국급 기능은 필요 없다. 소수 인원이 브라우저 하나로 전체를 운영할 수 있어야 한다."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교회 미디어팀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자원봉사자가 예배 송출을 운영 — 찬양 자막 자동화, 초보자용 예배 모드가 핵심 니즈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560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학교 방송부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저가 장비·학생 스태프 환경 — 행사 큐시트 자동화와 교내망 배포가 핵심 니즈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1인 유튜버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 카메라·송출·자막을 다 처리 — 자동 전환과 원버튼 멀티스트리밍이 핵심 니즈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정확한 시장 규모는 실사용자 인터뷰·설문을 통한 추가 검증이 필요합니다.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· 솔루션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OnAir Connect: 브라우저 하나로 끝나는 방송 제어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337560" cy="3017520"/>
          </a:xfrm>
          <a:prstGeom prst="roundRect">
            <a:avLst>
              <a:gd name="adj" fmla="val 3030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51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포트포워딩 없는 원격 접속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릴레이 + 페어링 코드로, 방화벽 설정 없이 어디서나 vMix 제어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2377440"/>
            <a:ext cx="3337560" cy="3017520"/>
          </a:xfrm>
          <a:prstGeom prst="roundRect">
            <a:avLst>
              <a:gd name="adj" fmla="val 3030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651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3429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자동 컨트롤 패널 생성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80560" y="416052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vMix 상태를 읽어와 사전 단축키 설정 없이 웹에서 즉시 조작 화면 구성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377440"/>
            <a:ext cx="3337560" cy="3017520"/>
          </a:xfrm>
          <a:prstGeom prst="roundRect">
            <a:avLst>
              <a:gd name="adj" fmla="val 3030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651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3429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타겟별 간소화 UI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38160" y="416052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교회·학교·유튜버 프리셋으로 필요한 기능만 노출하는 초급자 모드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· 경쟁 현황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서드파티 도구는 이 지점을 아직 풀지 못했습니다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0515600" cy="3108960"/>
        </p:xfrm>
        <a:graphic>
          <a:graphicData uri="http://schemas.openxmlformats.org/drawingml/2006/table">
            <a:tbl>
              <a:tblPr/>
              <a:tblGrid>
                <a:gridCol w="2743200"/>
                <a:gridCol w="4297680"/>
                <a:gridCol w="1828800"/>
                <a:gridCol w="164592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기능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원격 접속(설정 無)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초보자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Directors Plan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타임라인 자동화·컨트롤러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통합 컨트롤 대시보드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vScheduler / vTask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자동 스케줄링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Bitfocus Companion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스트림덱 연동 컨트롤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OnAir Connect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 기반 원격 제어 + 자동 구성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△: 부분 지원 또는 제한적 구현 · X: 기본 미지원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제품 로드맵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3단계로 검증하고 확장합니다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3200400"/>
            <a:ext cx="10058400" cy="0"/>
          </a:xfrm>
          <a:prstGeom prst="line">
            <a:avLst/>
          </a:prstGeom>
          <a:noFill/>
          <a:ln w="38100">
            <a:solidFill>
              <a:srgbClr val="D7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9443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294436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49640" y="2944368"/>
            <a:ext cx="512064" cy="512064"/>
          </a:xfrm>
          <a:prstGeom prst="ellipse">
            <a:avLst/>
          </a:prstGeom>
          <a:solidFill>
            <a:srgbClr val="3FA7A1"/>
          </a:solidFill>
          <a:ln/>
        </p:spPr>
      </p:sp>
      <p:sp>
        <p:nvSpPr>
          <p:cNvPr id="10" name="Text 8"/>
          <p:cNvSpPr/>
          <p:nvPr/>
        </p:nvSpPr>
        <p:spPr>
          <a:xfrm>
            <a:off x="8549640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36576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4440" y="38404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1단계 · MVP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4279392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접속(클라우드 릴레이) + 자동 컨트롤 패널 생성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36576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8404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2단계 · 확장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4279392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타겟별 프리셋 UI + 셀프서비스 라이선스 관리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36576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58200" y="38404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3단계 · 고도화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58200" y="4279392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모니터링·알림 + 간소화 타이틀 템플릿 에디터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· 수익 구조 (초안)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요금제 초안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협의를 통해 확정할 예시안이며, 최종 가격·조건은 팀 논의로 결정합니다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0515600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4023360"/>
                <a:gridCol w="192024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티어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기능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과금 방식(안)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사용자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네트워크 내 웹 제어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1인 유튜버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원격 접속 + 자동 전환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구독(개인)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교회 / 학교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기관 계정 + 다중 기기 + 큐시트 자동화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사이트 라이선스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방송사 / MCN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맞춤 연동 + SLA + 우선 지원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협의 계약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A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· 왜 방송 전문가인가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개발자 혼자서는 만들 수 없는 것들이 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33272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 워크플로우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0" y="2075688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방송 제작 현장의 큐시트, 진행 관행, 운영 상 제약을 아는 사람이 설계에 참여해야 진짜 쓸 수 있는 도구가 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033272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015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신뢰와 네트워크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23360" y="3401568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교회·학교·방송사 담당자들은 낯선 스타트업의 툴보다, 현업 PD·편성 담당자가 검증한 도구를 더 빨리 신뢰합니다.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033272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72744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완성도 있는 디자인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23360" y="4727448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타이틀·오버레이 템플릿의 완성도는 곧 제품의 첫인상이며, 방송 디자이너의 감각이 그대로 경쟁력이 됩니다.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필요한 역할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8개 역할, 하나의 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3500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319272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코어 엔진·보안 통신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214884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9856" y="23500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419856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19856" y="297180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기획/PM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19856" y="3319272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요구사항·로드맵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88736" y="214884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23500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089904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9904" y="297180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089904" y="3319272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워크플로우 자문·베타테스트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58784" y="214884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59952" y="23500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759952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59952" y="297180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759952" y="3319272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방송사·기관 채널 확보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3159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" y="49377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디자이너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49808" y="5285232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UI/UX·타이틀 템플릿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18688" y="411480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19856" y="43159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3419856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19856" y="49377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419856" y="5285232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콘텐츠·커뮤니티 확산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88736" y="411480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9904" y="43159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089904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89904" y="49377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영업/BD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089904" y="5285232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교회·학교·MCN 파트너십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58784" y="411480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759952" y="43159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8759952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759952" y="49377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8759952" y="5285232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운영자금·네트워크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· 참여 형태와 보상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"지분 몇 %" 이전에, 참여 방식부터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현직 방송사 재직자에게는 즉시 전업 참여보다 단계적 참여가 현실적입니다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0515600" cy="374904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5029200"/>
              </a:tblGrid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 참여 형태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보상안(예시)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대표/개발총괄(본인)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풀타임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지분 40% (기존 개발 기여분 포함)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공동개발자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풀타임 전환 조건부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지분 12~18% (4년 베스팅/1년 클리프)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기획/PM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풀타임 또는 6개월 내 전환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지분 8~12% (베스팅)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디자이너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파트타임 시작 → 전환 옵션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자문형 1~3% 또는 용역비, 전환 시 5~8%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PD(자문)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파트타임 자문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자문료 + 지분 0.5~2%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편성(자문/BD)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파트타임 자문·네트워크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계약 성사 커미션 + 지분 0.5~2%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마케팅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파트타임 → 전환 옵션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지분 4~7% 또는 초기 자문형 1~3%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영업/BD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성과형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커미션 기반 + 지분 1~3%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FRAMEWORK · 지분 배분 원칙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예시 창업팀 지분 배분안 (풀타임 전환 시나리오)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14884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234086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6172200" y="22860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베스팅(Vesting): 4년 분할 지급, 1년 클리프(Cliff) 적용을 표준 관행으로 제안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943600" y="318211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312724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자문단 Pool(5%): PD·편성 등 파트타임 참여자에게 개별 계약으로 배분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43600" y="402336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3968496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ESOP(15%): 향후 정규 채용 시 스톡옵션 재원으로 별도 예치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0" y="486460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4809744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 지분은 이 100%와 별도 트랙 — 시드 라운드 밸류에이션 기준으로 산정 후 비례 희석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43600" y="5696712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EAF3F6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5760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위 수치는 논의를 위한 예시안입니다. 최종 지분·베스팅 조건은 주주간계약서를 통해 법률·세무 전문가의 검토 후 확정합니다.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· 다음 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오늘부터, 이렇게 진행하고 싶습니다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515600" cy="0"/>
          </a:xfrm>
          <a:prstGeom prst="line">
            <a:avLst/>
          </a:prstGeom>
          <a:noFill/>
          <a:ln w="38100">
            <a:solidFill>
              <a:srgbClr val="D7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487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-4572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-228600" y="3520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설명 및 Q&amp;A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95828" y="2487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19582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8318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1~2주 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00300" y="3520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있는 분들과 1:1 미팅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24728" y="2487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82472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1개월 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520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자문/파트타임 계약 체결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453628" y="2487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45362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4098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3개월 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58100" y="3520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공동 개발 착수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082528" y="2487168"/>
            <a:ext cx="512064" cy="512064"/>
          </a:xfrm>
          <a:prstGeom prst="ellipse">
            <a:avLst/>
          </a:prstGeom>
          <a:solidFill>
            <a:srgbClr val="3FA7A1"/>
          </a:solidFill>
          <a:ln/>
        </p:spPr>
      </p:sp>
      <p:sp>
        <p:nvSpPr>
          <p:cNvPr id="22" name="Text 20"/>
          <p:cNvSpPr/>
          <p:nvPr/>
        </p:nvSpPr>
        <p:spPr>
          <a:xfrm>
            <a:off x="1108252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46988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검증 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0" y="3520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합류 및 지분 계약 확정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이 자리에서 바라는 것: 완전한 확답이 아니라, 다음 1:1 미팅에 응해주실 의향입니다.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함께, 방송의 다음 단계를 만듭니다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A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OnAir Connect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3FA7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조충남 (Peter Cho)  ·  Founder &amp; Lead Developer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[이메일 입력]   ·   [연락처 입력]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OnAir Connect 공동창업 제안서</dc:title>
  <dc:subject>PptxGenJS Presentation</dc:subject>
  <dc:creator>Peter Cho</dc:creator>
  <cp:lastModifiedBy>Peter Cho</cp:lastModifiedBy>
  <cp:revision>1</cp:revision>
  <dcterms:created xsi:type="dcterms:W3CDTF">2026-07-04T01:18:36Z</dcterms:created>
  <dcterms:modified xsi:type="dcterms:W3CDTF">2026-07-04T01:18:36Z</dcterms:modified>
</cp:coreProperties>
</file>